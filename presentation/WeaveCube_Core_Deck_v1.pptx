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탐색기 하나를 소개하는 발표가 아니라, “정확한 해를 구성하는 방식”을 소개한다. 핵심은 same-word, exact constraints, late materialization, ATO 구조다.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문제의 초점을 상태공간에서 move-word 조합공간으로 옮긴다. CubeLab의 질문은 모든 조합을 열거하지 않고 exact solution을 구성할 수 있는가이다.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무엇을 claim하지 않는지를 밝힌다. intersection, coset, DD, SAT는 기존 기술이다. CubeLab의 포인트는 shared move-word language 위에서 exact하게 구성하는 architecture다.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핵심 개념이다. 여러 조건을 따로 만족시키는 word들을 나중에 합치는 게 아니라, 동일한 word 후보 집합을 조건으로 계속 줄인다.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3330억 쌍은 conceptual space이다. 이것을 전부 만든 것이 아니라 exact condition signature로 단계적으로 줄였다. 이 차이를 정확히 말해야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A/B/A로 ordering 효과와 intersection 효과를 분리했다. Fixed도 8/8이므로 collapse의 본체는 progressive exact intersection이다. Adaptive는 condition 수와 시간을 modest하게 줄이는 보조 최적화다.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Exact라는 말이 complete family materialization을 의미할 필요는 없다. 필요한 것은 정확한 witness 하나와 replay 검증이다.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않는다. correctness PASS여도 느리면 production에 넣지 않았다. 병목을 측정하고 common_mask를 exact하게 compile한 뒤 재검증했다.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여기서는 coset 방향을 이야기하지 말고 orbit이라고 말한다. 여섯 representative에서 half-turn closure가 각각 663,552, 서로 disjoint, 합집합이 invariant upper bound와 같다.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24개 모두 풀이와 replay가 통과했다. 단, uniform random cube-state라고 하지 않는다. 정확히 sealed deterministic 25-move random-move corpus이다.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방어용이 아니라 신뢰도 장이다. 과장하지 않는 것이 오히려 contribution을 더 강하게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마지막은 세 contribution만 남긴다. 성능 숫자를 반복하기보다 what changed in perspective를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94360" y="621792"/>
            <a:ext cx="185075" cy="185075"/>
          </a:xfrm>
          <a:prstGeom prst="rect">
            <a:avLst/>
          </a:prstGeom>
          <a:solidFill>
            <a:srgbClr val="35D2FF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95528" y="621792"/>
            <a:ext cx="185075" cy="185075"/>
          </a:xfrm>
          <a:prstGeom prst="rect">
            <a:avLst/>
          </a:prstGeom>
          <a:solidFill>
            <a:srgbClr val="3867FF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96696" y="621792"/>
            <a:ext cx="185075" cy="185075"/>
          </a:xfrm>
          <a:prstGeom prst="rect">
            <a:avLst/>
          </a:prstGeom>
          <a:solidFill>
            <a:srgbClr val="8B5CF6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822960"/>
            <a:ext cx="185075" cy="185075"/>
          </a:xfrm>
          <a:prstGeom prst="rect">
            <a:avLst/>
          </a:prstGeom>
          <a:solidFill>
            <a:srgbClr val="FFB84D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95528" y="822960"/>
            <a:ext cx="185075" cy="185075"/>
          </a:xfrm>
          <a:prstGeom prst="rect">
            <a:avLst/>
          </a:prstGeom>
          <a:solidFill>
            <a:srgbClr val="4ADE80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6696" y="822960"/>
            <a:ext cx="185075" cy="185075"/>
          </a:xfrm>
          <a:prstGeom prst="rect">
            <a:avLst/>
          </a:prstGeom>
          <a:solidFill>
            <a:srgbClr val="FF6B6B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4360" y="1024128"/>
            <a:ext cx="185075" cy="185075"/>
          </a:xfrm>
          <a:prstGeom prst="rect">
            <a:avLst/>
          </a:prstGeom>
          <a:solidFill>
            <a:srgbClr val="35D2FF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95528" y="1024128"/>
            <a:ext cx="185075" cy="185075"/>
          </a:xfrm>
          <a:prstGeom prst="rect">
            <a:avLst/>
          </a:prstGeom>
          <a:solidFill>
            <a:srgbClr val="3867FF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96696" y="1024128"/>
            <a:ext cx="185075" cy="185075"/>
          </a:xfrm>
          <a:prstGeom prst="rect">
            <a:avLst/>
          </a:prstGeom>
          <a:solidFill>
            <a:srgbClr val="8B5CF6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18745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WeaveCube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" y="2596896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5D2FF"/>
                </a:solidFill>
              </a:rPr>
              <a:t>Exact Solution Construction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35D2FF"/>
                </a:solidFill>
              </a:rPr>
              <a:t>with the Lee Weave Method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58368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3D6"/>
                </a:solidFill>
              </a:rPr>
              <a:t>Progressive exact constraints • Late materialization • Exact ATO characterization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777240"/>
            <a:ext cx="1554480" cy="2468880"/>
          </a:xfrm>
          <a:prstGeom prst="line">
            <a:avLst/>
          </a:prstGeom>
          <a:noFill/>
          <a:ln w="15240">
            <a:solidFill>
              <a:srgbClr val="35D2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101584" y="713232"/>
            <a:ext cx="128016" cy="128016"/>
          </a:xfrm>
          <a:prstGeom prst="ellipse">
            <a:avLst/>
          </a:prstGeom>
          <a:solidFill>
            <a:srgbClr val="35D2FF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21040" y="1280160"/>
            <a:ext cx="1554480" cy="1965960"/>
          </a:xfrm>
          <a:prstGeom prst="line">
            <a:avLst/>
          </a:prstGeom>
          <a:noFill/>
          <a:ln w="15240">
            <a:solidFill>
              <a:srgbClr val="8B5CF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101584" y="121615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321040" y="1783080"/>
            <a:ext cx="1554480" cy="1463040"/>
          </a:xfrm>
          <a:prstGeom prst="line">
            <a:avLst/>
          </a:prstGeom>
          <a:noFill/>
          <a:ln w="15240">
            <a:solidFill>
              <a:srgbClr val="35D2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101584" y="1719072"/>
            <a:ext cx="128016" cy="128016"/>
          </a:xfrm>
          <a:prstGeom prst="ellipse">
            <a:avLst/>
          </a:prstGeom>
          <a:solidFill>
            <a:srgbClr val="35D2FF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321040" y="2286000"/>
            <a:ext cx="1554480" cy="960120"/>
          </a:xfrm>
          <a:prstGeom prst="line">
            <a:avLst/>
          </a:prstGeom>
          <a:noFill/>
          <a:ln w="15240">
            <a:solidFill>
              <a:srgbClr val="8B5CF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101584" y="222199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321040" y="2788920"/>
            <a:ext cx="1554480" cy="457200"/>
          </a:xfrm>
          <a:prstGeom prst="line">
            <a:avLst/>
          </a:prstGeom>
          <a:noFill/>
          <a:ln w="15240">
            <a:solidFill>
              <a:srgbClr val="35D2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01584" y="2724912"/>
            <a:ext cx="128016" cy="128016"/>
          </a:xfrm>
          <a:prstGeom prst="ellipse">
            <a:avLst/>
          </a:prstGeom>
          <a:solidFill>
            <a:srgbClr val="35D2FF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321040" y="3291840"/>
            <a:ext cx="1554480" cy="-45720"/>
          </a:xfrm>
          <a:prstGeom prst="line">
            <a:avLst/>
          </a:prstGeom>
          <a:noFill/>
          <a:ln w="15240">
            <a:solidFill>
              <a:srgbClr val="8B5CF6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101584" y="322783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321040" y="3794760"/>
            <a:ext cx="1554480" cy="-548640"/>
          </a:xfrm>
          <a:prstGeom prst="line">
            <a:avLst/>
          </a:prstGeom>
          <a:noFill/>
          <a:ln w="15240">
            <a:solidFill>
              <a:srgbClr val="35D2FF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101584" y="3730752"/>
            <a:ext cx="128016" cy="128016"/>
          </a:xfrm>
          <a:prstGeom prst="ellipse">
            <a:avLst/>
          </a:prstGeom>
          <a:solidFill>
            <a:srgbClr val="35D2FF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561320" y="3886200"/>
            <a:ext cx="1170432" cy="640080"/>
          </a:xfrm>
          <a:prstGeom prst="rect">
            <a:avLst/>
          </a:prstGeom>
          <a:solidFill>
            <a:srgbClr val="3867FF"/>
          </a:solidFill>
          <a:ln w="15240">
            <a:solidFill>
              <a:srgbClr val="35D2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EXACT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WITNESS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WeaveCube presentation draft • evidence frozen through v37.530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Bottleneck Is Not Only the State Space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Move-word combinations become a second combinatorial problem.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A solver must manage enormous combinations of compatible move sequences.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D2FF"/>
                </a:solidFill>
              </a:rPr>
              <a:t>Can exact solutions be constructed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35D2FF"/>
                </a:solidFill>
              </a:rPr>
              <a:t>without enumerating those combinations?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99"/>
                </a:solidFill>
              </a:rPr>
              <a:t>conventional 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914400" cy="347472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3886200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554480" y="3520440"/>
            <a:ext cx="64008" cy="365760"/>
          </a:xfrm>
          <a:prstGeom prst="line">
            <a:avLst/>
          </a:prstGeom>
          <a:noFill/>
          <a:ln w="8890">
            <a:solidFill>
              <a:srgbClr val="2C3A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938528" y="3886200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554480" y="3520440"/>
            <a:ext cx="448056" cy="365760"/>
          </a:xfrm>
          <a:prstGeom prst="line">
            <a:avLst/>
          </a:prstGeom>
          <a:noFill/>
          <a:ln w="8890">
            <a:solidFill>
              <a:srgbClr val="2C3A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322576" y="3886200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554480" y="3520440"/>
            <a:ext cx="832104" cy="365760"/>
          </a:xfrm>
          <a:prstGeom prst="line">
            <a:avLst/>
          </a:prstGeom>
          <a:noFill/>
          <a:ln w="8890">
            <a:solidFill>
              <a:srgbClr val="2C3A5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416552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252728" y="4416552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636776" y="4416552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020824" y="4416552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404872" y="4416552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82880" y="4946904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66928" y="4946904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0976" y="4946904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335024" y="4946904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719072" y="4946904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103120" y="4946904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487168" y="4946904"/>
            <a:ext cx="137160" cy="137160"/>
          </a:xfrm>
          <a:prstGeom prst="ellipse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5800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99"/>
                </a:solidFill>
              </a:rPr>
              <a:t>Lee Weave question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3154680"/>
            <a:ext cx="4023360" cy="292608"/>
          </a:xfrm>
          <a:prstGeom prst="trapezoid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2C3A55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092440" y="3575304"/>
            <a:ext cx="3291840" cy="292608"/>
          </a:xfrm>
          <a:prstGeom prst="trapezoid">
            <a:avLst/>
          </a:prstGeom>
          <a:solidFill>
            <a:srgbClr val="8B5CF6">
              <a:alpha val="52000"/>
            </a:srgbClr>
          </a:solidFill>
          <a:ln w="12700">
            <a:solidFill>
              <a:srgbClr val="2C3A55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458200" y="3995928"/>
            <a:ext cx="2560320" cy="292608"/>
          </a:xfrm>
          <a:prstGeom prst="trapezoid">
            <a:avLst/>
          </a:prstGeom>
          <a:solidFill>
            <a:srgbClr val="35D2FF">
              <a:alpha val="59000"/>
            </a:srgbClr>
          </a:solidFill>
          <a:ln w="12700">
            <a:solidFill>
              <a:srgbClr val="2C3A55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823960" y="4416552"/>
            <a:ext cx="1828800" cy="292608"/>
          </a:xfrm>
          <a:prstGeom prst="trapezoid">
            <a:avLst/>
          </a:prstGeom>
          <a:solidFill>
            <a:srgbClr val="35D2FF">
              <a:alpha val="66000"/>
            </a:srgbClr>
          </a:solidFill>
          <a:ln w="12700">
            <a:solidFill>
              <a:srgbClr val="2C3A55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189720" y="4837176"/>
            <a:ext cx="1097280" cy="292608"/>
          </a:xfrm>
          <a:prstGeom prst="trapezoid">
            <a:avLst/>
          </a:prstGeom>
          <a:solidFill>
            <a:srgbClr val="35D2FF">
              <a:alpha val="73000"/>
            </a:srgbClr>
          </a:solidFill>
          <a:ln w="12700">
            <a:solidFill>
              <a:srgbClr val="2C3A55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052560" y="5394960"/>
            <a:ext cx="1005840" cy="347472"/>
          </a:xfrm>
          <a:prstGeom prst="rect">
            <a:avLst/>
          </a:prstGeom>
          <a:solidFill>
            <a:srgbClr val="3867FF"/>
          </a:solidFill>
          <a:ln w="15240">
            <a:solidFill>
              <a:srgbClr val="35D2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witness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Framing: not only “large cube state space,” but large compatible move-word combination space.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WeaveCube Does Not Claim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Prior art boundary first; novelty second.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743200" cy="420624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Subgroup search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417320"/>
            <a:ext cx="2743200" cy="420624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SAT encoding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0" y="1417320"/>
            <a:ext cx="2743200" cy="420624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Cosets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30552"/>
            <a:ext cx="2743200" cy="420624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Decision diagrams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130552"/>
            <a:ext cx="2743200" cy="420624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Set intersection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2130552"/>
            <a:ext cx="2743200" cy="420624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Product constructions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3063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B84D"/>
                </a:solidFill>
              </a:rPr>
              <a:t>These are prior art.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080760" y="3703320"/>
            <a:ext cx="0" cy="640080"/>
          </a:xfrm>
          <a:prstGeom prst="line">
            <a:avLst/>
          </a:prstGeom>
          <a:noFill/>
          <a:ln w="13970">
            <a:solidFill>
              <a:srgbClr val="6E7C9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57400" y="4389120"/>
            <a:ext cx="8138160" cy="777240"/>
          </a:xfrm>
          <a:prstGeom prst="rect">
            <a:avLst/>
          </a:prstGeom>
          <a:solidFill>
            <a:srgbClr val="1A2640"/>
          </a:solidFill>
          <a:ln w="15240">
            <a:solidFill>
              <a:srgbClr val="35D2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5D2FF"/>
                </a:solidFill>
              </a:rPr>
              <a:t>Two-phase-family solver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35D2FF"/>
                </a:solidFill>
              </a:rPr>
              <a:t>Lee Weave replaces conventional Phase-1 search.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Examples: Kociemba two-phase; SAT cube solving (Chen, 2011); permutation decision diagrams (πDD/GDD).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Many Exact Possibilities Alive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Apply heterogeneous exact constraints to the same move word.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Do not select one path early.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3D6"/>
                </a:solidFill>
              </a:rPr>
              <a:t>Every condition refers to the same candidate word.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2907792"/>
            <a:ext cx="1828800" cy="822960"/>
          </a:xfrm>
          <a:prstGeom prst="rect">
            <a:avLst/>
          </a:prstGeom>
          <a:solidFill>
            <a:srgbClr val="3867FF"/>
          </a:solidFill>
          <a:ln w="15240">
            <a:solidFill>
              <a:srgbClr val="35D2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SAME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MOVE WORD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468880" cy="384048"/>
          </a:xfrm>
          <a:prstGeom prst="rect">
            <a:avLst/>
          </a:prstGeom>
          <a:solidFill>
            <a:srgbClr val="151F34"/>
          </a:solidFill>
          <a:ln w="15240">
            <a:solidFill>
              <a:srgbClr val="35D2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Piece/Q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560320"/>
            <a:ext cx="2286000" cy="822960"/>
          </a:xfrm>
          <a:prstGeom prst="line">
            <a:avLst/>
          </a:prstGeom>
          <a:noFill/>
          <a:ln w="13970">
            <a:solidFill>
              <a:srgbClr val="35D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54680"/>
            <a:ext cx="2468880" cy="384048"/>
          </a:xfrm>
          <a:prstGeom prst="rect">
            <a:avLst/>
          </a:prstGeom>
          <a:solidFill>
            <a:srgbClr val="151F34"/>
          </a:solidFill>
          <a:ln w="15240">
            <a:solidFill>
              <a:srgbClr val="8B5CF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Piece/Q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3337560"/>
            <a:ext cx="2286000" cy="45720"/>
          </a:xfrm>
          <a:prstGeom prst="line">
            <a:avLst/>
          </a:prstGeom>
          <a:noFill/>
          <a:ln w="13970">
            <a:solidFill>
              <a:srgbClr val="8B5C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31920"/>
            <a:ext cx="2468880" cy="384048"/>
          </a:xfrm>
          <a:prstGeom prst="rect">
            <a:avLst/>
          </a:prstGeom>
          <a:solidFill>
            <a:srgbClr val="151F34"/>
          </a:solidFill>
          <a:ln w="15240">
            <a:solidFill>
              <a:srgbClr val="FFB84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ATO condition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4114800"/>
            <a:ext cx="2286000" cy="-731520"/>
          </a:xfrm>
          <a:prstGeom prst="line">
            <a:avLst/>
          </a:prstGeom>
          <a:noFill/>
          <a:ln w="13970">
            <a:solidFill>
              <a:srgbClr val="FFB84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4709160"/>
            <a:ext cx="2468880" cy="384048"/>
          </a:xfrm>
          <a:prstGeom prst="rect">
            <a:avLst/>
          </a:prstGeom>
          <a:solidFill>
            <a:srgbClr val="151F34"/>
          </a:solidFill>
          <a:ln w="15240">
            <a:solidFill>
              <a:srgbClr val="4ADE8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Boundary condition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4892040"/>
            <a:ext cx="2286000" cy="-1508760"/>
          </a:xfrm>
          <a:prstGeom prst="line">
            <a:avLst/>
          </a:prstGeom>
          <a:noFill/>
          <a:ln w="13970">
            <a:solidFill>
              <a:srgbClr val="4ADE8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26680" y="3383280"/>
            <a:ext cx="1417320" cy="0"/>
          </a:xfrm>
          <a:prstGeom prst="line">
            <a:avLst/>
          </a:prstGeom>
          <a:noFill/>
          <a:ln w="19050">
            <a:solidFill>
              <a:srgbClr val="35D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0" y="2980944"/>
            <a:ext cx="1554480" cy="685800"/>
          </a:xfrm>
          <a:prstGeom prst="rect">
            <a:avLst/>
          </a:prstGeom>
          <a:solidFill>
            <a:srgbClr val="1A2640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compatible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</a:rPr>
              <a:t>language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16768" y="3383280"/>
            <a:ext cx="576072" cy="0"/>
          </a:xfrm>
          <a:prstGeom prst="line">
            <a:avLst/>
          </a:prstGeom>
          <a:noFill/>
          <a:ln w="19050">
            <a:solidFill>
              <a:srgbClr val="35D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972800" y="2907792"/>
            <a:ext cx="914400" cy="868680"/>
          </a:xfrm>
          <a:prstGeom prst="ellipse">
            <a:avLst/>
          </a:prstGeom>
          <a:solidFill>
            <a:srgbClr val="35D2FF">
              <a:alpha val="90000"/>
            </a:srgbClr>
          </a:solidFill>
          <a:ln w="15240">
            <a:solidFill>
              <a:srgbClr val="35D2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EXACT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WITNESS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Key distinction: compatible witnesses are preserved until late, not chosen greedily.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333 Billion Conceptual Pairs — Without Cartesian Enumeration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A18 5+5 split: exact conditions collapse the implicit pair space.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170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C3D6"/>
                </a:solidFill>
              </a:rPr>
              <a:t>577,368 × 577,368 =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B84D"/>
                </a:solidFill>
              </a:rPr>
              <a:t>333,353,807,424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3D6"/>
                </a:solidFill>
              </a:rPr>
              <a:t>conceptual pairs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12280" y="1170432"/>
            <a:ext cx="4754880" cy="347472"/>
          </a:xfrm>
          <a:prstGeom prst="rect">
            <a:avLst/>
          </a:prstGeom>
          <a:solidFill>
            <a:srgbClr val="FFB84D">
              <a:alpha val="95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333.35B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08876" y="1673352"/>
            <a:ext cx="4361688" cy="347472"/>
          </a:xfrm>
          <a:prstGeom prst="rect">
            <a:avLst/>
          </a:prstGeom>
          <a:solidFill>
            <a:srgbClr val="8B5CF6">
              <a:alpha val="63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</a:rPr>
              <a:t>7.81B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05472" y="2176272"/>
            <a:ext cx="3968496" cy="347472"/>
          </a:xfrm>
          <a:prstGeom prst="rect">
            <a:avLst/>
          </a:prstGeom>
          <a:solidFill>
            <a:srgbClr val="8B5CF6">
              <a:alpha val="66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295.07M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2068" y="2679192"/>
            <a:ext cx="3575304" cy="347472"/>
          </a:xfrm>
          <a:prstGeom prst="rect">
            <a:avLst/>
          </a:prstGeom>
          <a:solidFill>
            <a:srgbClr val="8B5CF6">
              <a:alpha val="69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11.53M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98664" y="3182112"/>
            <a:ext cx="3182112" cy="347472"/>
          </a:xfrm>
          <a:prstGeom prst="rect">
            <a:avLst/>
          </a:prstGeom>
          <a:solidFill>
            <a:srgbClr val="35D2FF">
              <a:alpha val="72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613k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95260" y="3685032"/>
            <a:ext cx="2788920" cy="347472"/>
          </a:xfrm>
          <a:prstGeom prst="rect">
            <a:avLst/>
          </a:prstGeom>
          <a:solidFill>
            <a:srgbClr val="35D2FF">
              <a:alpha val="75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55.5k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91856" y="4187952"/>
            <a:ext cx="2395728" cy="347472"/>
          </a:xfrm>
          <a:prstGeom prst="rect">
            <a:avLst/>
          </a:prstGeom>
          <a:solidFill>
            <a:srgbClr val="35D2FF">
              <a:alpha val="78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3,021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8452" y="4690872"/>
            <a:ext cx="2002536" cy="347472"/>
          </a:xfrm>
          <a:prstGeom prst="rect">
            <a:avLst/>
          </a:prstGeom>
          <a:solidFill>
            <a:srgbClr val="35D2FF">
              <a:alpha val="81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326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5193792"/>
            <a:ext cx="1609344" cy="347472"/>
          </a:xfrm>
          <a:prstGeom prst="rect">
            <a:avLst/>
          </a:prstGeom>
          <a:solidFill>
            <a:srgbClr val="35D2FF">
              <a:alpha val="84000"/>
            </a:srgbClr>
          </a:solidFill>
          <a:ln>
            <a:solidFill>
              <a:srgbClr val="0B1020">
                <a:alpha val="0"/>
              </a:srgbClr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19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931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D2FF"/>
                </a:solidFill>
              </a:rPr>
              <a:t>No runtime Cartesian materialization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5D2FF"/>
                </a:solidFill>
              </a:rPr>
              <a:t>until the exact candidate threshold is reached.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Evidence: v37.530 Adaptive 5+5 case ladder; all 8 tested cases found witnesses.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Ablation: The Collapse Is Not Caused by Ordering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Adaptive ordering helps; progressive exact intersection is the core mechanism.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43000" y="2569464"/>
            <a:ext cx="731520" cy="2048256"/>
          </a:xfrm>
          <a:prstGeom prst="rect">
            <a:avLst/>
          </a:prstGeom>
          <a:solidFill>
            <a:srgbClr val="35D2FF">
              <a:alpha val="90000"/>
            </a:srgbClr>
          </a:solidFill>
          <a:ln w="12700">
            <a:solidFill>
              <a:srgbClr val="35D2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919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Adaptive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5230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9"/>
                </a:solidFill>
              </a:rPr>
              <a:t>wall 1.747s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2057400"/>
            <a:ext cx="731520" cy="2560320"/>
          </a:xfrm>
          <a:prstGeom prst="rect">
            <a:avLst/>
          </a:prstGeom>
          <a:solidFill>
            <a:srgbClr val="FFB84D">
              <a:alpha val="80000"/>
            </a:srgbClr>
          </a:solidFill>
          <a:ln w="12700">
            <a:solidFill>
              <a:srgbClr val="FFB84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10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4919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Fixed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5230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9"/>
                </a:solidFill>
              </a:rPr>
              <a:t>wall 1.971s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2569464"/>
            <a:ext cx="731520" cy="2048256"/>
          </a:xfrm>
          <a:prstGeom prst="rect">
            <a:avLst/>
          </a:prstGeom>
          <a:solidFill>
            <a:srgbClr val="35D2FF">
              <a:alpha val="90000"/>
            </a:srgbClr>
          </a:solidFill>
          <a:ln w="12700">
            <a:solidFill>
              <a:srgbClr val="35D2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06240" y="4919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Adaptive 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52303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C99"/>
                </a:solidFill>
              </a:rPr>
              <a:t>wall 1.789s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3D6"/>
                </a:solidFill>
              </a:rPr>
              <a:t>median conditions to ≤64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417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</a:rPr>
              <a:t>8/8 witnesses in all arms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73952" y="2148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7FB"/>
                </a:solidFill>
              </a:rPr>
              <a:t>Adaptive ordering reduced the median threshold step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B"/>
                </a:solidFill>
              </a:rPr>
              <a:t>from 10 to 8 and gave ~10% runtime benefit.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6758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4D"/>
                </a:solidFill>
              </a:rPr>
              <a:t>But fixed order still found all witnesses.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4224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3D6"/>
                </a:solidFill>
              </a:rPr>
              <a:t>Conclusion: ordering is secondary.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Evidence: v37.530 A/B/A, same 5+5 cases and exact join semantics; only condition_order changed.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Does Not Require Exhaustive Materialization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FIRST_WITNESS avoids constructing the full compatible family.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C3D6"/>
                </a:solidFill>
              </a:rPr>
              <a:t>Full exact closure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2834640" cy="685800"/>
          </a:xfrm>
          <a:prstGeom prst="rect">
            <a:avLst/>
          </a:prstGeom>
          <a:solidFill>
            <a:srgbClr val="151F34"/>
          </a:solidFill>
          <a:ln w="15240">
            <a:solidFill>
              <a:srgbClr val="FFB84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84D"/>
                </a:solidFill>
              </a:rPr>
              <a:t>36.86 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160520" y="2331720"/>
            <a:ext cx="1463040" cy="0"/>
          </a:xfrm>
          <a:prstGeom prst="line">
            <a:avLst/>
          </a:prstGeom>
          <a:noFill/>
          <a:ln w="13970">
            <a:solidFill>
              <a:srgbClr val="6E7C9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D2FF"/>
                </a:solidFill>
              </a:rPr>
              <a:t>FIRST_WITNESS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26480" y="1965960"/>
            <a:ext cx="2834640" cy="685800"/>
          </a:xfrm>
          <a:prstGeom prst="rect">
            <a:avLst/>
          </a:prstGeom>
          <a:solidFill>
            <a:srgbClr val="1A2640"/>
          </a:solidFill>
          <a:ln w="15240">
            <a:solidFill>
              <a:srgbClr val="35D2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5D2FF"/>
                </a:solidFill>
              </a:rPr>
              <a:t>15.50 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9372600" y="2121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DE80"/>
                </a:solidFill>
              </a:rPr>
              <a:t>2.38× faster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34440" y="4206240"/>
            <a:ext cx="1920240" cy="411480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exact compatibility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4407408"/>
            <a:ext cx="438912" cy="0"/>
          </a:xfrm>
          <a:prstGeom prst="line">
            <a:avLst/>
          </a:prstGeom>
          <a:noFill/>
          <a:ln w="12700">
            <a:solidFill>
              <a:srgbClr val="35D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0" y="4206240"/>
            <a:ext cx="1920240" cy="411480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restrict until small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4407408"/>
            <a:ext cx="438912" cy="0"/>
          </a:xfrm>
          <a:prstGeom prst="line">
            <a:avLst/>
          </a:prstGeom>
          <a:noFill/>
          <a:ln w="12700">
            <a:solidFill>
              <a:srgbClr val="35D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080760" y="4206240"/>
            <a:ext cx="1920240" cy="411480"/>
          </a:xfrm>
          <a:prstGeom prst="rect">
            <a:avLst/>
          </a:prstGeom>
          <a:solidFill>
            <a:srgbClr val="3867FF"/>
          </a:solidFill>
          <a:ln w="15240">
            <a:solidFill>
              <a:srgbClr val="35D2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materialize 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4407408"/>
            <a:ext cx="438912" cy="0"/>
          </a:xfrm>
          <a:prstGeom prst="line">
            <a:avLst/>
          </a:prstGeom>
          <a:noFill/>
          <a:ln w="12700">
            <a:solidFill>
              <a:srgbClr val="35D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03920" y="4206240"/>
            <a:ext cx="1920240" cy="411480"/>
          </a:xfrm>
          <a:prstGeom prst="rect">
            <a:avLst/>
          </a:prstGeom>
          <a:solidFill>
            <a:srgbClr val="151F34"/>
          </a:solidFill>
          <a:ln w="15240">
            <a:solidFill>
              <a:srgbClr val="2C3A55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7FB"/>
                </a:solidFill>
              </a:rPr>
              <a:t>native replay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Representative result: full frozen closure vs FIRST_WITNESS exact execution; same replay authority.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Correctness Was Necessary — But Not Sufficient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Promotion required end-to-end economics, not just correctness.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2103120" cy="685800"/>
          </a:xfrm>
          <a:prstGeom prst="rect">
            <a:avLst/>
          </a:prstGeom>
          <a:solidFill>
            <a:srgbClr val="1A2640"/>
          </a:solidFill>
          <a:ln w="15240">
            <a:solidFill>
              <a:srgbClr val="FF6B6B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Correct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but slower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2304288"/>
            <a:ext cx="457200" cy="0"/>
          </a:xfrm>
          <a:prstGeom prst="line">
            <a:avLst/>
          </a:prstGeom>
          <a:noFill/>
          <a:ln w="13970">
            <a:solidFill>
              <a:srgbClr val="FF6B6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11880" y="1965960"/>
            <a:ext cx="2103120" cy="685800"/>
          </a:xfrm>
          <a:prstGeom prst="rect">
            <a:avLst/>
          </a:prstGeom>
          <a:solidFill>
            <a:srgbClr val="1A2640"/>
          </a:solidFill>
          <a:ln w="15240">
            <a:solidFill>
              <a:srgbClr val="FFB84D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Profile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bottleneck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2304288"/>
            <a:ext cx="457200" cy="0"/>
          </a:xfrm>
          <a:prstGeom prst="line">
            <a:avLst/>
          </a:prstGeom>
          <a:noFill/>
          <a:ln w="13970">
            <a:solidFill>
              <a:srgbClr val="FFB84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0" y="1965960"/>
            <a:ext cx="2103120" cy="685800"/>
          </a:xfrm>
          <a:prstGeom prst="rect">
            <a:avLst/>
          </a:prstGeom>
          <a:solidFill>
            <a:srgbClr val="1A2640"/>
          </a:solidFill>
          <a:ln w="15240">
            <a:solidFill>
              <a:srgbClr val="8B5CF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Compile exact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common_mask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49640" y="2304288"/>
            <a:ext cx="457200" cy="0"/>
          </a:xfrm>
          <a:prstGeom prst="line">
            <a:avLst/>
          </a:prstGeom>
          <a:noFill/>
          <a:ln w="13970">
            <a:solidFill>
              <a:srgbClr val="8B5CF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89720" y="1965960"/>
            <a:ext cx="2103120" cy="685800"/>
          </a:xfrm>
          <a:prstGeom prst="rect">
            <a:avLst/>
          </a:prstGeom>
          <a:solidFill>
            <a:srgbClr val="1A2640"/>
          </a:solidFill>
          <a:ln w="15240">
            <a:solidFill>
              <a:srgbClr val="4ADE80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Revalidated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end-to-end PASS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C99"/>
                </a:solidFill>
              </a:rPr>
              <a:t>v37.516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401568"/>
            <a:ext cx="21031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Historical GM 18.46s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Optimized 19.03s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9C3D6"/>
                </a:solidFill>
              </a:rPr>
              <a:t>+0.572s → OFF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3401568"/>
            <a:ext cx="1920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3D6"/>
                </a:solidFill>
              </a:rPr>
              <a:t>Dominant cost: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3D6"/>
                </a:solidFill>
              </a:rPr>
              <a:t>common_mask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401568"/>
            <a:ext cx="21031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3D6"/>
                </a:solidFill>
              </a:rPr>
              <a:t>Preserve exact graph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3D6"/>
                </a:solidFill>
              </a:rPr>
              <a:t>&amp; replay semantics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81160" y="3401568"/>
            <a:ext cx="2011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3D6"/>
                </a:solidFill>
              </a:rPr>
              <a:t>Scope: registered-only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3D6"/>
                </a:solidFill>
              </a:rPr>
              <a:t>G10/E22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4983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D2FF"/>
                </a:solidFill>
              </a:rPr>
              <a:t>Correctness gates first. Economics gate second.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Evidence: v37.516/P7 common-mask directive and v37.517 registered-only recommendation.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ATO Is Not One Half-Turn Orbit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Exact result: six disjoint half-turn orbits cover physical ATO-zero.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3D6"/>
                </a:solidFill>
              </a:rPr>
              <a:t>Old conjecture: 1 orbit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60520" y="1124712"/>
            <a:ext cx="1280160" cy="329184"/>
          </a:xfrm>
          <a:prstGeom prst="rect">
            <a:avLst/>
          </a:prstGeom>
          <a:solidFill>
            <a:srgbClr val="151F34"/>
          </a:solidFill>
          <a:ln w="12700">
            <a:solidFill>
              <a:srgbClr val="FF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6B6B"/>
                </a:solidFill>
              </a:rPr>
              <a:t>false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703320" y="1755648"/>
            <a:ext cx="1188720" cy="868680"/>
          </a:xfrm>
          <a:prstGeom prst="ellipse">
            <a:avLst/>
          </a:prstGeom>
          <a:solidFill>
            <a:srgbClr val="35D2FF">
              <a:alpha val="65000"/>
            </a:srgbClr>
          </a:solidFill>
          <a:ln w="15240">
            <a:solidFill>
              <a:srgbClr val="35D2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663,552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755648"/>
            <a:ext cx="1188720" cy="868680"/>
          </a:xfrm>
          <a:prstGeom prst="ellipse">
            <a:avLst/>
          </a:prstGeom>
          <a:solidFill>
            <a:srgbClr val="8B5CF6">
              <a:alpha val="65000"/>
            </a:srgbClr>
          </a:solidFill>
          <a:ln w="15240">
            <a:solidFill>
              <a:srgbClr val="8B5CF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663,552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69480" y="1755648"/>
            <a:ext cx="1188720" cy="868680"/>
          </a:xfrm>
          <a:prstGeom prst="ellipse">
            <a:avLst/>
          </a:prstGeom>
          <a:solidFill>
            <a:srgbClr val="3867FF">
              <a:alpha val="65000"/>
            </a:srgbClr>
          </a:solidFill>
          <a:ln w="15240">
            <a:solidFill>
              <a:srgbClr val="3867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663,552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355848"/>
            <a:ext cx="1188720" cy="868680"/>
          </a:xfrm>
          <a:prstGeom prst="ellipse">
            <a:avLst/>
          </a:prstGeom>
          <a:solidFill>
            <a:srgbClr val="4ADE80">
              <a:alpha val="65000"/>
            </a:srgbClr>
          </a:solidFill>
          <a:ln w="15240">
            <a:solidFill>
              <a:srgbClr val="4ADE8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663,552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3355848"/>
            <a:ext cx="1188720" cy="868680"/>
          </a:xfrm>
          <a:prstGeom prst="ellipse">
            <a:avLst/>
          </a:prstGeom>
          <a:solidFill>
            <a:srgbClr val="FFB84D">
              <a:alpha val="65000"/>
            </a:srgbClr>
          </a:solidFill>
          <a:ln w="15240">
            <a:solidFill>
              <a:srgbClr val="FFB84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663,552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3355848"/>
            <a:ext cx="1188720" cy="868680"/>
          </a:xfrm>
          <a:prstGeom prst="ellipse">
            <a:avLst/>
          </a:prstGeom>
          <a:solidFill>
            <a:srgbClr val="FF6B6B">
              <a:alpha val="65000"/>
            </a:srgbClr>
          </a:solidFill>
          <a:ln w="15240">
            <a:solidFill>
              <a:srgbClr val="FF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663,552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B"/>
                </a:solidFill>
              </a:rPr>
              <a:t>Physical ATO-zero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0" y="516636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5D2FF"/>
                </a:solidFill>
              </a:rPr>
              <a:t>6 × 663,552 = 3,981,312 states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788920" y="5650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3D6"/>
                </a:solidFill>
              </a:rPr>
              <a:t>finite-set proof: constructive lower bound = invariant upper bound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Use “six disjoint half-turn orbits” in the deck; avoid left/right coset ambiguity under non-normal H.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Does It Solve Unseen Scrambles?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Sealed deterministic 25-move random-move corpus; not uniform random states.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" y="144475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ADE80"/>
                </a:solidFill>
              </a:rPr>
              <a:t>24 / 24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B"/>
                </a:solidFill>
              </a:rPr>
              <a:t>solved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28346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5D2FF"/>
                </a:solidFill>
              </a:rPr>
              <a:t>24 / 24 replay verified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3D6"/>
                </a:solidFill>
              </a:rPr>
              <a:t>UNKNOWN 0 • fallback 0 • replay failures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B84D"/>
                </a:solidFill>
              </a:rPr>
              <a:t>median 1.224 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32688" y="48646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3D6"/>
                </a:solidFill>
              </a:rPr>
              <a:t>p90 3.017 s • max 4.914 s • length 18–23 moves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35040" y="13533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99"/>
                </a:solidFill>
              </a:rPr>
              <a:t>case wall time (s)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4297680"/>
            <a:ext cx="5029200" cy="0"/>
          </a:xfrm>
          <a:prstGeom prst="line">
            <a:avLst/>
          </a:prstGeom>
          <a:noFill/>
          <a:ln w="12700">
            <a:solidFill>
              <a:srgbClr val="2C3A5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035040" y="4224528"/>
            <a:ext cx="0" cy="146304"/>
          </a:xfrm>
          <a:prstGeom prst="line">
            <a:avLst/>
          </a:prstGeom>
          <a:noFill/>
          <a:ln w="10160">
            <a:solidFill>
              <a:srgbClr val="2C3A5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80176" y="442569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C99"/>
                </a:solidFill>
              </a:rPr>
              <a:t>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040880" y="4224528"/>
            <a:ext cx="0" cy="146304"/>
          </a:xfrm>
          <a:prstGeom prst="line">
            <a:avLst/>
          </a:prstGeom>
          <a:noFill/>
          <a:ln w="10160">
            <a:solidFill>
              <a:srgbClr val="2C3A5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86016" y="442569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C99"/>
                </a:solidFill>
              </a:rPr>
              <a:t>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046720" y="4224528"/>
            <a:ext cx="0" cy="146304"/>
          </a:xfrm>
          <a:prstGeom prst="line">
            <a:avLst/>
          </a:prstGeom>
          <a:noFill/>
          <a:ln w="10160">
            <a:solidFill>
              <a:srgbClr val="2C3A5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991856" y="442569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C99"/>
                </a:solidFill>
              </a:rPr>
              <a:t>2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052560" y="4224528"/>
            <a:ext cx="0" cy="146304"/>
          </a:xfrm>
          <a:prstGeom prst="line">
            <a:avLst/>
          </a:prstGeom>
          <a:noFill/>
          <a:ln w="10160">
            <a:solidFill>
              <a:srgbClr val="2C3A5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997696" y="442569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C99"/>
                </a:solidFill>
              </a:rPr>
              <a:t>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0058400" y="4224528"/>
            <a:ext cx="0" cy="146304"/>
          </a:xfrm>
          <a:prstGeom prst="line">
            <a:avLst/>
          </a:prstGeom>
          <a:noFill/>
          <a:ln w="10160">
            <a:solidFill>
              <a:srgbClr val="2C3A5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03536" y="442569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C99"/>
                </a:solidFill>
              </a:rPr>
              <a:t>4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1064240" y="4224528"/>
            <a:ext cx="0" cy="146304"/>
          </a:xfrm>
          <a:prstGeom prst="line">
            <a:avLst/>
          </a:prstGeom>
          <a:noFill/>
          <a:ln w="10160">
            <a:solidFill>
              <a:srgbClr val="2C3A5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009376" y="4425696"/>
            <a:ext cx="137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C99"/>
                </a:solidFill>
              </a:rPr>
              <a:t>5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02523" y="3982212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52977" y="3817620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617513" y="3653028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728155" y="3488436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38798" y="3982212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959498" y="3817620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009790" y="3653028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110374" y="3488436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190842" y="3982212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221017" y="3817620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251192" y="3653028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311542" y="3488436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552944" y="3982212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774229" y="3817620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935163" y="3653028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106156" y="3488436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327441" y="3982212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488375" y="3817620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759952" y="3653028"/>
            <a:ext cx="82296" cy="82296"/>
          </a:xfrm>
          <a:prstGeom prst="ellipse">
            <a:avLst/>
          </a:prstGeom>
          <a:solidFill>
            <a:srgbClr val="35D2FF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031529" y="3488436"/>
            <a:ext cx="82296" cy="82296"/>
          </a:xfrm>
          <a:prstGeom prst="ellipse">
            <a:avLst/>
          </a:prstGeom>
          <a:solidFill>
            <a:srgbClr val="FFB84D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313164" y="3982212"/>
            <a:ext cx="82296" cy="82296"/>
          </a:xfrm>
          <a:prstGeom prst="ellipse">
            <a:avLst/>
          </a:prstGeom>
          <a:solidFill>
            <a:srgbClr val="FFB84D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665208" y="3817620"/>
            <a:ext cx="82296" cy="82296"/>
          </a:xfrm>
          <a:prstGeom prst="ellipse">
            <a:avLst/>
          </a:prstGeom>
          <a:solidFill>
            <a:srgbClr val="FFB84D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238537" y="3653028"/>
            <a:ext cx="82296" cy="82296"/>
          </a:xfrm>
          <a:prstGeom prst="ellipse">
            <a:avLst/>
          </a:prstGeom>
          <a:solidFill>
            <a:srgbClr val="FFB84D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0936590" y="3488436"/>
            <a:ext cx="82296" cy="82296"/>
          </a:xfrm>
          <a:prstGeom prst="ellipse">
            <a:avLst/>
          </a:prstGeom>
          <a:solidFill>
            <a:srgbClr val="FFB84D">
              <a:alpha val="9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Evidence: FULL-24 sealed corpus, v37.527 receipt/log; corpus sealed before solver import.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Claim Boundary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Strong claims because the limits are explicit.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161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</a:rPr>
              <a:t>We claim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0" y="1161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We do not claim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✓ Shared-word exact construction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340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✓ Progressive exact restriction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0120" y="2944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✓ Late materialization / FIRST_WITNESS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0120" y="3547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✓ Exact six-orbit ATO characterization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012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✓ Practical evidence on sealed FULL-24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9224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× Inventing set intersection, DDs, SAT, cosets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2240" y="2340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× Inventing two-phase / Phase-2 architecture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92240" y="2944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× Universal random-state solve rate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3547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× General superiority to Kociemba/Nissy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4F7FB"/>
                </a:solidFill>
              </a:rPr>
              <a:t>× A18 works for all roots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989320" y="1325880"/>
            <a:ext cx="0" cy="4023360"/>
          </a:xfrm>
          <a:prstGeom prst="line">
            <a:avLst/>
          </a:prstGeom>
          <a:noFill/>
          <a:ln w="16510">
            <a:solidFill>
              <a:srgbClr val="2C3A5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57150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D2FF"/>
                </a:solidFill>
              </a:rPr>
              <a:t>The contribution is architectural and exact, not a claim to replace every solver.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Boundary slide: protects novelty by explicitly crediting prior art and limiting empirical claims.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182880"/>
          </a:xfrm>
          <a:prstGeom prst="rect">
            <a:avLst/>
          </a:prstGeom>
          <a:solidFill>
            <a:srgbClr val="35D2FF">
              <a:alpha val="50000"/>
            </a:srgbClr>
          </a:solidFill>
          <a:ln w="12700">
            <a:solidFill>
              <a:srgbClr val="35D2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Contributions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D6"/>
                </a:solidFill>
              </a:rPr>
              <a:t>A different exact front-end construction mechanism within the two-phase family.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664208"/>
            <a:ext cx="640080" cy="640080"/>
          </a:xfrm>
          <a:prstGeom prst="ellipse">
            <a:avLst/>
          </a:prstGeom>
          <a:solidFill>
            <a:srgbClr val="35D2FF"/>
          </a:solidFill>
          <a:ln w="12700">
            <a:solidFill>
              <a:srgbClr val="35D2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020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Shared-word exact construction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3D6"/>
                </a:solidFill>
              </a:rPr>
              <a:t>Keep multiple compatible witnesses alive.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7720" y="1664208"/>
            <a:ext cx="640080" cy="64008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020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Late materialization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3D6"/>
                </a:solidFill>
              </a:rPr>
              <a:t>Restrict first; enumerate only when small.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0" y="1664208"/>
            <a:ext cx="640080" cy="6400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020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21040" y="2514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Exact ATO characterization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104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3D6"/>
                </a:solidFill>
              </a:rPr>
              <a:t>Six disjoint half-turn orbits.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8920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5D2FF"/>
                </a:solidFill>
              </a:rPr>
              <a:t>WeaveCube shows that Lee Weave can organize exact solving around compatible word languages,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5D2FF"/>
                </a:solidFill>
              </a:rPr>
              <a:t>not only around early commitment to a single search trajectory.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623560" y="5806440"/>
            <a:ext cx="151425" cy="151425"/>
          </a:xfrm>
          <a:prstGeom prst="rect">
            <a:avLst/>
          </a:prstGeom>
          <a:solidFill>
            <a:srgbClr val="35D2FF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788152" y="5806440"/>
            <a:ext cx="151425" cy="151425"/>
          </a:xfrm>
          <a:prstGeom prst="rect">
            <a:avLst/>
          </a:prstGeom>
          <a:solidFill>
            <a:srgbClr val="3867FF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52744" y="5806440"/>
            <a:ext cx="151425" cy="151425"/>
          </a:xfrm>
          <a:prstGeom prst="rect">
            <a:avLst/>
          </a:prstGeom>
          <a:solidFill>
            <a:srgbClr val="8B5CF6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623560" y="5971032"/>
            <a:ext cx="151425" cy="151425"/>
          </a:xfrm>
          <a:prstGeom prst="rect">
            <a:avLst/>
          </a:prstGeom>
          <a:solidFill>
            <a:srgbClr val="FFB84D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88152" y="5971032"/>
            <a:ext cx="151425" cy="151425"/>
          </a:xfrm>
          <a:prstGeom prst="rect">
            <a:avLst/>
          </a:prstGeom>
          <a:solidFill>
            <a:srgbClr val="4ADE80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52744" y="5971032"/>
            <a:ext cx="151425" cy="151425"/>
          </a:xfrm>
          <a:prstGeom prst="rect">
            <a:avLst/>
          </a:prstGeom>
          <a:solidFill>
            <a:srgbClr val="FF6B6B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623560" y="6135624"/>
            <a:ext cx="151425" cy="151425"/>
          </a:xfrm>
          <a:prstGeom prst="rect">
            <a:avLst/>
          </a:prstGeom>
          <a:solidFill>
            <a:srgbClr val="35D2FF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788152" y="6135624"/>
            <a:ext cx="151425" cy="151425"/>
          </a:xfrm>
          <a:prstGeom prst="rect">
            <a:avLst/>
          </a:prstGeom>
          <a:solidFill>
            <a:srgbClr val="3867FF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52744" y="6135624"/>
            <a:ext cx="151425" cy="151425"/>
          </a:xfrm>
          <a:prstGeom prst="rect">
            <a:avLst/>
          </a:prstGeom>
          <a:solidFill>
            <a:srgbClr val="8B5CF6"/>
          </a:solidFill>
          <a:ln w="762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E7C99"/>
                </a:solidFill>
              </a:rPr>
              <a:t>End of core deck • ready for design refinement or Korean localization.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CubeLab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CubeLab: Exact Solution Construction over Shared Move Words</dc:title>
  <dc:subject>CubeLab presentation deck</dc:subject>
  <dc:creator>OpenAI</dc:creator>
  <cp:lastModifiedBy>OpenAI</cp:lastModifiedBy>
  <cp:revision>1</cp:revision>
  <dcterms:created xsi:type="dcterms:W3CDTF">2026-09-16T09:24:51Z</dcterms:created>
  <dcterms:modified xsi:type="dcterms:W3CDTF">2026-09-16T09:24:51Z</dcterms:modified>
</cp:coreProperties>
</file>